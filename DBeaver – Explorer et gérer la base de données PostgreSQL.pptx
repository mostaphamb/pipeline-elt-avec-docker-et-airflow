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Liter" panose="020B0604020202020204" charset="0"/>
      <p:regular r:id="rId15"/>
    </p:embeddedFont>
    <p:embeddedFont>
      <p:font typeface="Quattrocento Sans" panose="020B0604020202020204" charset="0"/>
      <p:regular r:id="rId1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2821"/>
    <a:srgbClr val="D03E13"/>
    <a:srgbClr val="CE3D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09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6000" y="5334000"/>
            <a:ext cx="5080000" cy="3810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2446000" y="6604000"/>
            <a:ext cx="3810000" cy="2540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92237" y="4572000"/>
            <a:ext cx="11031190" cy="0"/>
          </a:xfrm>
          <a:prstGeom prst="straightConnector1">
            <a:avLst/>
          </a:prstGeom>
          <a:noFill/>
          <a:ln w="50800">
            <a:solidFill>
              <a:srgbClr val="CE3D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692237" y="3301360"/>
            <a:ext cx="11358736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3728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Explorer et gérer la base de données PostgreSQL</a:t>
            </a:r>
            <a:endParaRPr lang="en-US" sz="4400" dirty="0">
              <a:solidFill>
                <a:srgbClr val="37282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92237" y="6153234"/>
            <a:ext cx="7063834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Présenté par : </a:t>
            </a:r>
            <a:r>
              <a:rPr lang="en-US" sz="24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Mostapha M’bairik </a:t>
            </a:r>
            <a:r>
              <a:rPr lang="en-US" sz="2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</a:t>
            </a:r>
            <a:r>
              <a:rPr lang="en-US" sz="24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Jamaa </a:t>
            </a:r>
            <a:r>
              <a:rPr lang="en-US" sz="2400" b="1" dirty="0" err="1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Igengaren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685823" y="8250346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mai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347700" y="2181936"/>
            <a:ext cx="711200" cy="812800"/>
          </a:xfrm>
          <a:custGeom>
            <a:avLst/>
            <a:gdLst/>
            <a:ahLst/>
            <a:cxnLst/>
            <a:rect l="l" t="t" r="r" b="b"/>
            <a:pathLst>
              <a:path w="711200" h="812800">
                <a:moveTo>
                  <a:pt x="711200" y="326708"/>
                </a:moveTo>
                <a:cubicBezTo>
                  <a:pt x="687705" y="342265"/>
                  <a:pt x="660717" y="354806"/>
                  <a:pt x="632619" y="364808"/>
                </a:cubicBezTo>
                <a:cubicBezTo>
                  <a:pt x="558006" y="391478"/>
                  <a:pt x="460058" y="406400"/>
                  <a:pt x="355600" y="406400"/>
                </a:cubicBezTo>
                <a:cubicBezTo>
                  <a:pt x="251142" y="406400"/>
                  <a:pt x="153035" y="391319"/>
                  <a:pt x="78581" y="364808"/>
                </a:cubicBezTo>
                <a:cubicBezTo>
                  <a:pt x="50641" y="354806"/>
                  <a:pt x="23495" y="342265"/>
                  <a:pt x="0" y="326708"/>
                </a:cubicBezTo>
                <a:lnTo>
                  <a:pt x="0" y="457200"/>
                </a:lnTo>
                <a:cubicBezTo>
                  <a:pt x="0" y="527368"/>
                  <a:pt x="159226" y="584200"/>
                  <a:pt x="355600" y="584200"/>
                </a:cubicBezTo>
                <a:cubicBezTo>
                  <a:pt x="551974" y="584200"/>
                  <a:pt x="711200" y="527368"/>
                  <a:pt x="711200" y="457200"/>
                </a:cubicBezTo>
                <a:lnTo>
                  <a:pt x="711200" y="326708"/>
                </a:lnTo>
                <a:close/>
                <a:moveTo>
                  <a:pt x="711200" y="203200"/>
                </a:moveTo>
                <a:lnTo>
                  <a:pt x="711200" y="127000"/>
                </a:lnTo>
                <a:cubicBezTo>
                  <a:pt x="711200" y="56832"/>
                  <a:pt x="551974" y="0"/>
                  <a:pt x="355600" y="0"/>
                </a:cubicBezTo>
                <a:cubicBezTo>
                  <a:pt x="159226" y="0"/>
                  <a:pt x="0" y="56832"/>
                  <a:pt x="0" y="127000"/>
                </a:cubicBezTo>
                <a:lnTo>
                  <a:pt x="0" y="203200"/>
                </a:lnTo>
                <a:cubicBezTo>
                  <a:pt x="0" y="273368"/>
                  <a:pt x="159226" y="330200"/>
                  <a:pt x="355600" y="330200"/>
                </a:cubicBezTo>
                <a:cubicBezTo>
                  <a:pt x="551974" y="330200"/>
                  <a:pt x="711200" y="273368"/>
                  <a:pt x="711200" y="203200"/>
                </a:cubicBezTo>
                <a:close/>
                <a:moveTo>
                  <a:pt x="632619" y="618808"/>
                </a:moveTo>
                <a:cubicBezTo>
                  <a:pt x="558165" y="645319"/>
                  <a:pt x="460216" y="660400"/>
                  <a:pt x="355600" y="660400"/>
                </a:cubicBezTo>
                <a:cubicBezTo>
                  <a:pt x="250984" y="660400"/>
                  <a:pt x="153035" y="645319"/>
                  <a:pt x="78581" y="618808"/>
                </a:cubicBezTo>
                <a:cubicBezTo>
                  <a:pt x="50641" y="608806"/>
                  <a:pt x="23495" y="596265"/>
                  <a:pt x="0" y="580708"/>
                </a:cubicBezTo>
                <a:lnTo>
                  <a:pt x="0" y="685800"/>
                </a:lnTo>
                <a:cubicBezTo>
                  <a:pt x="0" y="755968"/>
                  <a:pt x="159226" y="812800"/>
                  <a:pt x="355600" y="812800"/>
                </a:cubicBezTo>
                <a:cubicBezTo>
                  <a:pt x="551974" y="812800"/>
                  <a:pt x="711200" y="755968"/>
                  <a:pt x="711200" y="685800"/>
                </a:cubicBezTo>
                <a:lnTo>
                  <a:pt x="711200" y="580708"/>
                </a:lnTo>
                <a:cubicBezTo>
                  <a:pt x="687705" y="596265"/>
                  <a:pt x="660717" y="608806"/>
                  <a:pt x="632619" y="618808"/>
                </a:cubicBez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3373100" y="3707168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6B4297-B310-BEF7-61B2-05E5AC30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79" y="179386"/>
            <a:ext cx="6350001" cy="3571876"/>
          </a:xfrm>
          <a:prstGeom prst="rect">
            <a:avLst/>
          </a:prstGeom>
        </p:spPr>
      </p:pic>
      <p:sp>
        <p:nvSpPr>
          <p:cNvPr id="14" name="Shape 1">
            <a:extLst>
              <a:ext uri="{FF2B5EF4-FFF2-40B4-BE49-F238E27FC236}">
                <a16:creationId xmlns:a16="http://schemas.microsoft.com/office/drawing/2014/main" id="{C12DA18F-9EA8-0095-0D58-F01617C48BAF}"/>
              </a:ext>
            </a:extLst>
          </p:cNvPr>
          <p:cNvSpPr/>
          <p:nvPr/>
        </p:nvSpPr>
        <p:spPr>
          <a:xfrm>
            <a:off x="720373" y="6667877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DCB71A-D981-D03F-0BCC-290755DDF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8900" y="296839"/>
            <a:ext cx="1649998" cy="470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668BAF-3B39-AD8F-97F1-D83A441749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320" b="19114"/>
          <a:stretch>
            <a:fillRect/>
          </a:stretch>
        </p:blipFill>
        <p:spPr>
          <a:xfrm>
            <a:off x="10108164" y="-59354"/>
            <a:ext cx="1624466" cy="951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2A8EFA-896F-26E7-3A92-6B882D25E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7396" y="62916"/>
            <a:ext cx="2714048" cy="8128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de la présentation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244600" y="1905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05000" y="1905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Savoir explorer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une base de données de manière simple et visuelle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43443" y="258048"/>
                </a:moveTo>
                <a:lnTo>
                  <a:pt x="128905" y="302101"/>
                </a:lnTo>
                <a:cubicBezTo>
                  <a:pt x="113506" y="308054"/>
                  <a:pt x="98346" y="292894"/>
                  <a:pt x="104299" y="277495"/>
                </a:cubicBezTo>
                <a:lnTo>
                  <a:pt x="148352" y="162957"/>
                </a:lnTo>
                <a:cubicBezTo>
                  <a:pt x="150971" y="156210"/>
                  <a:pt x="156210" y="150971"/>
                  <a:pt x="162957" y="148352"/>
                </a:cubicBezTo>
                <a:lnTo>
                  <a:pt x="277495" y="104299"/>
                </a:lnTo>
                <a:cubicBezTo>
                  <a:pt x="292894" y="98346"/>
                  <a:pt x="308054" y="113506"/>
                  <a:pt x="302101" y="128905"/>
                </a:cubicBezTo>
                <a:lnTo>
                  <a:pt x="258048" y="243443"/>
                </a:lnTo>
                <a:cubicBezTo>
                  <a:pt x="255508" y="250190"/>
                  <a:pt x="250190" y="255429"/>
                  <a:pt x="243443" y="258048"/>
                </a:cubicBezTo>
                <a:close/>
                <a:moveTo>
                  <a:pt x="228600" y="203200"/>
                </a:moveTo>
                <a:cubicBezTo>
                  <a:pt x="228600" y="189181"/>
                  <a:pt x="217219" y="177800"/>
                  <a:pt x="203200" y="177800"/>
                </a:cubicBezTo>
                <a:cubicBezTo>
                  <a:pt x="189181" y="177800"/>
                  <a:pt x="177800" y="189181"/>
                  <a:pt x="177800" y="203200"/>
                </a:cubicBezTo>
                <a:cubicBezTo>
                  <a:pt x="177800" y="217219"/>
                  <a:pt x="189181" y="228600"/>
                  <a:pt x="203200" y="228600"/>
                </a:cubicBezTo>
                <a:cubicBezTo>
                  <a:pt x="217219" y="228600"/>
                  <a:pt x="228600" y="217219"/>
                  <a:pt x="228600" y="2032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905000" y="3048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Découvrir DBeaver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un outil graphique universel pour bases de données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419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905000" y="4191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Comprendre l'intérêt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d'un client graphique vs. la ligne de commande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95400" y="533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-25400"/>
                </a:moveTo>
                <a:cubicBezTo>
                  <a:pt x="115649" y="-25400"/>
                  <a:pt x="127000" y="-14049"/>
                  <a:pt x="127000" y="0"/>
                </a:cubicBezTo>
                <a:lnTo>
                  <a:pt x="127000" y="76200"/>
                </a:lnTo>
                <a:lnTo>
                  <a:pt x="228600" y="76200"/>
                </a:lnTo>
                <a:lnTo>
                  <a:pt x="228600" y="0"/>
                </a:lnTo>
                <a:cubicBezTo>
                  <a:pt x="228600" y="-14049"/>
                  <a:pt x="239951" y="-25400"/>
                  <a:pt x="254000" y="-25400"/>
                </a:cubicBezTo>
                <a:cubicBezTo>
                  <a:pt x="268049" y="-25400"/>
                  <a:pt x="279400" y="-14049"/>
                  <a:pt x="279400" y="0"/>
                </a:cubicBezTo>
                <a:lnTo>
                  <a:pt x="279400" y="76200"/>
                </a:ln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cubicBezTo>
                  <a:pt x="355600" y="115649"/>
                  <a:pt x="344249" y="127000"/>
                  <a:pt x="330200" y="127000"/>
                </a:cubicBezTo>
                <a:lnTo>
                  <a:pt x="330200" y="177800"/>
                </a:lnTo>
                <a:cubicBezTo>
                  <a:pt x="330200" y="253286"/>
                  <a:pt x="275273" y="315992"/>
                  <a:pt x="203200" y="328057"/>
                </a:cubicBezTo>
                <a:lnTo>
                  <a:pt x="203200" y="381000"/>
                </a:lnTo>
                <a:cubicBezTo>
                  <a:pt x="203200" y="395049"/>
                  <a:pt x="191849" y="406400"/>
                  <a:pt x="177800" y="406400"/>
                </a:cubicBezTo>
                <a:cubicBezTo>
                  <a:pt x="163751" y="406400"/>
                  <a:pt x="152400" y="395049"/>
                  <a:pt x="152400" y="381000"/>
                </a:cubicBezTo>
                <a:lnTo>
                  <a:pt x="152400" y="328057"/>
                </a:lnTo>
                <a:cubicBezTo>
                  <a:pt x="80328" y="315992"/>
                  <a:pt x="25400" y="253286"/>
                  <a:pt x="25400" y="1778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lnTo>
                  <a:pt x="76200" y="0"/>
                </a:lnTo>
                <a:cubicBezTo>
                  <a:pt x="76200" y="-14049"/>
                  <a:pt x="87551" y="-25400"/>
                  <a:pt x="101600" y="-254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905000" y="5334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Apprendre à se connecter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à PostgreSQL et exécuter des requêtes SQL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44600" y="6477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112792"/>
                </a:moveTo>
                <a:lnTo>
                  <a:pt x="0" y="381000"/>
                </a:lnTo>
                <a:cubicBezTo>
                  <a:pt x="0" y="395049"/>
                  <a:pt x="11351" y="406400"/>
                  <a:pt x="25400" y="406400"/>
                </a:cubicBezTo>
                <a:cubicBezTo>
                  <a:pt x="39449" y="406400"/>
                  <a:pt x="50800" y="395049"/>
                  <a:pt x="50800" y="381000"/>
                </a:cubicBezTo>
                <a:lnTo>
                  <a:pt x="50800" y="190500"/>
                </a:lnTo>
                <a:cubicBezTo>
                  <a:pt x="50800" y="176451"/>
                  <a:pt x="62151" y="165100"/>
                  <a:pt x="76200" y="165100"/>
                </a:cubicBezTo>
                <a:lnTo>
                  <a:pt x="381000" y="165100"/>
                </a:lnTo>
                <a:cubicBezTo>
                  <a:pt x="395049" y="165100"/>
                  <a:pt x="406400" y="176451"/>
                  <a:pt x="406400" y="190500"/>
                </a:cubicBezTo>
                <a:lnTo>
                  <a:pt x="406400" y="381000"/>
                </a:lnTo>
                <a:cubicBezTo>
                  <a:pt x="406400" y="395049"/>
                  <a:pt x="417751" y="406400"/>
                  <a:pt x="431800" y="406400"/>
                </a:cubicBezTo>
                <a:cubicBezTo>
                  <a:pt x="445849" y="406400"/>
                  <a:pt x="457200" y="395049"/>
                  <a:pt x="457200" y="381000"/>
                </a:cubicBezTo>
                <a:lnTo>
                  <a:pt x="457200" y="112792"/>
                </a:lnTo>
                <a:cubicBezTo>
                  <a:pt x="457200" y="90964"/>
                  <a:pt x="443230" y="71517"/>
                  <a:pt x="422434" y="64611"/>
                </a:cubicBezTo>
                <a:lnTo>
                  <a:pt x="240665" y="4048"/>
                </a:lnTo>
                <a:cubicBezTo>
                  <a:pt x="232807" y="1429"/>
                  <a:pt x="224393" y="1429"/>
                  <a:pt x="216535" y="4048"/>
                </a:cubicBezTo>
                <a:lnTo>
                  <a:pt x="34766" y="64611"/>
                </a:lnTo>
                <a:cubicBezTo>
                  <a:pt x="13970" y="71517"/>
                  <a:pt x="0" y="90964"/>
                  <a:pt x="0" y="112792"/>
                </a:cubicBezTo>
                <a:close/>
                <a:moveTo>
                  <a:pt x="368300" y="203200"/>
                </a:moveTo>
                <a:lnTo>
                  <a:pt x="88900" y="203200"/>
                </a:lnTo>
                <a:lnTo>
                  <a:pt x="88900" y="254000"/>
                </a:lnTo>
                <a:lnTo>
                  <a:pt x="368300" y="254000"/>
                </a:lnTo>
                <a:lnTo>
                  <a:pt x="368300" y="203200"/>
                </a:lnTo>
                <a:close/>
                <a:moveTo>
                  <a:pt x="88900" y="330200"/>
                </a:moveTo>
                <a:lnTo>
                  <a:pt x="368300" y="330200"/>
                </a:lnTo>
                <a:lnTo>
                  <a:pt x="368300" y="279400"/>
                </a:lnTo>
                <a:lnTo>
                  <a:pt x="88900" y="279400"/>
                </a:lnTo>
                <a:lnTo>
                  <a:pt x="88900" y="330200"/>
                </a:lnTo>
                <a:close/>
                <a:moveTo>
                  <a:pt x="368300" y="355600"/>
                </a:moveTo>
                <a:lnTo>
                  <a:pt x="88900" y="355600"/>
                </a:lnTo>
                <a:lnTo>
                  <a:pt x="88900" y="406400"/>
                </a:lnTo>
                <a:lnTo>
                  <a:pt x="368300" y="406400"/>
                </a:lnTo>
                <a:lnTo>
                  <a:pt x="368300" y="3556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905000" y="6477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Visualiser le rôle de DBeaver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dans un projet Data Warehouse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Qu'est-ce que DBeaver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16000" y="2710543"/>
            <a:ext cx="8255000" cy="357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Client graphique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universel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open-source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Compatible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MySQL, Oracle, SQL Server, MongoDB...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Versions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Community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(gratuite) et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Enterprise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Éditeur SQL avancé, visualisation de schémas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Multi-plateforme : Windows, macOS, Linux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906000" y="634999"/>
            <a:ext cx="5334000" cy="772522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https://kimi-img.moonshot.cn/pub/slides/okc/lik2yfe4zbpjm/mnt/agents/output/dbeaver_postgres/images/2_PostgreSQL_logo_and_symbol_meaning.png"/>
          <p:cNvPicPr>
            <a:picLocks noChangeAspect="1"/>
          </p:cNvPicPr>
          <p:nvPr/>
        </p:nvPicPr>
        <p:blipFill>
          <a:blip r:embed="rId3"/>
          <a:srcRect l="-2941" r="-2941"/>
          <a:stretch/>
        </p:blipFill>
        <p:spPr>
          <a:xfrm>
            <a:off x="10523182" y="5022850"/>
            <a:ext cx="4318000" cy="254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657114" y="4359275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/ 12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75827A-536D-442A-F151-97729AD84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06000" y="891631"/>
            <a:ext cx="5140278" cy="33297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un outil graphique plutôt que la CLI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651000"/>
          <a:ext cx="14224000" cy="6349998"/>
        </p:xfrm>
        <a:graphic>
          <a:graphicData uri="http://schemas.openxmlformats.org/drawingml/2006/table">
            <a:tbl>
              <a:tblPr/>
              <a:tblGrid>
                <a:gridCol w="312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06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Critère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Ligne de commande (CLI)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Outil graphique (GUI)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2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Facilité d'utilisation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Courbe d'apprentissage élevée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Intuitive et visuelle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82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Exploration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Commandes textuelles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Navigation par clic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082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Visualisation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Résultats en texte brut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Tableaux, graphes, diagrammes 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082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Productivité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Rapide pour scripts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Gain de temps quotidien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082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Erreurs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Syntaxe stricte, risque élevé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Auto-complétion, validation visuelle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082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Accessibilité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Réservé aux experts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Accessible aux débutants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Fonctionnalités principales de DBeaver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16000" y="2627087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358900" y="2944587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-25400"/>
                </a:moveTo>
                <a:cubicBezTo>
                  <a:pt x="115649" y="-25400"/>
                  <a:pt x="127000" y="-14049"/>
                  <a:pt x="127000" y="0"/>
                </a:cubicBezTo>
                <a:lnTo>
                  <a:pt x="127000" y="76200"/>
                </a:lnTo>
                <a:lnTo>
                  <a:pt x="228600" y="76200"/>
                </a:lnTo>
                <a:lnTo>
                  <a:pt x="228600" y="0"/>
                </a:lnTo>
                <a:cubicBezTo>
                  <a:pt x="228600" y="-14049"/>
                  <a:pt x="239951" y="-25400"/>
                  <a:pt x="254000" y="-25400"/>
                </a:cubicBezTo>
                <a:cubicBezTo>
                  <a:pt x="268049" y="-25400"/>
                  <a:pt x="279400" y="-14049"/>
                  <a:pt x="279400" y="0"/>
                </a:cubicBezTo>
                <a:lnTo>
                  <a:pt x="279400" y="76200"/>
                </a:ln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cubicBezTo>
                  <a:pt x="355600" y="115649"/>
                  <a:pt x="344249" y="127000"/>
                  <a:pt x="330200" y="127000"/>
                </a:cubicBezTo>
                <a:lnTo>
                  <a:pt x="330200" y="177800"/>
                </a:lnTo>
                <a:cubicBezTo>
                  <a:pt x="330200" y="253286"/>
                  <a:pt x="275273" y="315992"/>
                  <a:pt x="203200" y="328057"/>
                </a:cubicBezTo>
                <a:lnTo>
                  <a:pt x="203200" y="381000"/>
                </a:lnTo>
                <a:cubicBezTo>
                  <a:pt x="203200" y="395049"/>
                  <a:pt x="191849" y="406400"/>
                  <a:pt x="177800" y="406400"/>
                </a:cubicBezTo>
                <a:cubicBezTo>
                  <a:pt x="163751" y="406400"/>
                  <a:pt x="152400" y="395049"/>
                  <a:pt x="152400" y="381000"/>
                </a:cubicBezTo>
                <a:lnTo>
                  <a:pt x="152400" y="328057"/>
                </a:lnTo>
                <a:cubicBezTo>
                  <a:pt x="80328" y="315992"/>
                  <a:pt x="25400" y="253286"/>
                  <a:pt x="25400" y="1778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lnTo>
                  <a:pt x="76200" y="0"/>
                </a:lnTo>
                <a:cubicBezTo>
                  <a:pt x="76200" y="-14049"/>
                  <a:pt x="87551" y="-25400"/>
                  <a:pt x="101600" y="-254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905000" y="2881087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Connexion multi-base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PostgreSQL, MySQL, Oracle, SQL Server, SQLite...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42000" y="2627087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134100" y="2944587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731000" y="2881087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Éditeur SQL intelligent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Coloration, auto-complétion, formatage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668000" y="2627087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985500" y="294458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1557000" y="2881087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Navigateur de schéma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Tables, vues, procédures, triggers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6000" y="4659087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358900" y="4976587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03200" y="127000"/>
                </a:moveTo>
                <a:lnTo>
                  <a:pt x="203200" y="203200"/>
                </a:lnTo>
                <a:lnTo>
                  <a:pt x="304800" y="203200"/>
                </a:lnTo>
                <a:lnTo>
                  <a:pt x="304800" y="127000"/>
                </a:lnTo>
                <a:lnTo>
                  <a:pt x="203200" y="127000"/>
                </a:lnTo>
                <a:close/>
                <a:moveTo>
                  <a:pt x="152400" y="127000"/>
                </a:moveTo>
                <a:lnTo>
                  <a:pt x="50800" y="127000"/>
                </a:lnTo>
                <a:lnTo>
                  <a:pt x="50800" y="203200"/>
                </a:lnTo>
                <a:lnTo>
                  <a:pt x="152400" y="203200"/>
                </a:lnTo>
                <a:lnTo>
                  <a:pt x="152400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304800" y="25400"/>
                </a:lnTo>
                <a:cubicBezTo>
                  <a:pt x="332819" y="25400"/>
                  <a:pt x="355600" y="48181"/>
                  <a:pt x="355600" y="762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04800" y="254000"/>
                </a:moveTo>
                <a:lnTo>
                  <a:pt x="203200" y="254000"/>
                </a:lnTo>
                <a:lnTo>
                  <a:pt x="203200" y="330200"/>
                </a:lnTo>
                <a:lnTo>
                  <a:pt x="304800" y="330200"/>
                </a:lnTo>
                <a:lnTo>
                  <a:pt x="304800" y="254000"/>
                </a:lnTo>
                <a:close/>
                <a:moveTo>
                  <a:pt x="152400" y="330200"/>
                </a:moveTo>
                <a:lnTo>
                  <a:pt x="152400" y="254000"/>
                </a:lnTo>
                <a:lnTo>
                  <a:pt x="50800" y="254000"/>
                </a:lnTo>
                <a:lnTo>
                  <a:pt x="50800" y="330200"/>
                </a:lnTo>
                <a:lnTo>
                  <a:pt x="152400" y="3302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905000" y="4913087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Visualisation des données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Grille éditable, filtres, export CSV/Excel/JSON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42000" y="4659087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59500" y="497658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31000" y="4913087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Modélisation ER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Diagrammes entité-relation automatiques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668000" y="4659087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0960100" y="4976587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235902" y="406400"/>
                </a:lnTo>
                <a:cubicBezTo>
                  <a:pt x="207169" y="372586"/>
                  <a:pt x="190500" y="329009"/>
                  <a:pt x="190500" y="282892"/>
                </a:cubicBezTo>
                <a:lnTo>
                  <a:pt x="190500" y="258207"/>
                </a:lnTo>
                <a:cubicBezTo>
                  <a:pt x="190500" y="252412"/>
                  <a:pt x="191294" y="246698"/>
                  <a:pt x="192802" y="241300"/>
                </a:cubicBezTo>
                <a:lnTo>
                  <a:pt x="154226" y="241300"/>
                </a:lnTo>
                <a:close/>
                <a:moveTo>
                  <a:pt x="353457" y="387747"/>
                </a:moveTo>
                <a:lnTo>
                  <a:pt x="342900" y="392748"/>
                </a:lnTo>
                <a:lnTo>
                  <a:pt x="342900" y="243443"/>
                </a:lnTo>
                <a:lnTo>
                  <a:pt x="419100" y="268843"/>
                </a:lnTo>
                <a:lnTo>
                  <a:pt x="419100" y="284401"/>
                </a:lnTo>
                <a:cubicBezTo>
                  <a:pt x="419100" y="328692"/>
                  <a:pt x="393541" y="368935"/>
                  <a:pt x="353457" y="387826"/>
                </a:cubicBezTo>
                <a:close/>
                <a:moveTo>
                  <a:pt x="334883" y="205978"/>
                </a:moveTo>
                <a:lnTo>
                  <a:pt x="245983" y="235585"/>
                </a:lnTo>
                <a:cubicBezTo>
                  <a:pt x="235585" y="239078"/>
                  <a:pt x="228600" y="248761"/>
                  <a:pt x="228600" y="259715"/>
                </a:cubicBezTo>
                <a:lnTo>
                  <a:pt x="228600" y="284401"/>
                </a:lnTo>
                <a:cubicBezTo>
                  <a:pt x="228600" y="343456"/>
                  <a:pt x="262731" y="397192"/>
                  <a:pt x="316071" y="422275"/>
                </a:cubicBezTo>
                <a:lnTo>
                  <a:pt x="330756" y="429181"/>
                </a:lnTo>
                <a:cubicBezTo>
                  <a:pt x="334566" y="430927"/>
                  <a:pt x="338693" y="431879"/>
                  <a:pt x="342821" y="431879"/>
                </a:cubicBezTo>
                <a:cubicBezTo>
                  <a:pt x="346948" y="431879"/>
                  <a:pt x="351155" y="430927"/>
                  <a:pt x="354886" y="429181"/>
                </a:cubicBezTo>
                <a:lnTo>
                  <a:pt x="369570" y="422275"/>
                </a:lnTo>
                <a:cubicBezTo>
                  <a:pt x="423069" y="397113"/>
                  <a:pt x="457200" y="343376"/>
                  <a:pt x="457200" y="284321"/>
                </a:cubicBezTo>
                <a:lnTo>
                  <a:pt x="457200" y="259636"/>
                </a:lnTo>
                <a:cubicBezTo>
                  <a:pt x="457200" y="248682"/>
                  <a:pt x="450215" y="238998"/>
                  <a:pt x="439817" y="235506"/>
                </a:cubicBezTo>
                <a:lnTo>
                  <a:pt x="350917" y="205899"/>
                </a:lnTo>
                <a:cubicBezTo>
                  <a:pt x="345678" y="204152"/>
                  <a:pt x="340043" y="204152"/>
                  <a:pt x="334883" y="20589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1557000" y="4913087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Gestion des droits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Utilisateurs, rôles et permissions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Connexion à PostgreSQL – Étapes détaillées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16000" y="1778000"/>
            <a:ext cx="508000" cy="50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16000" y="177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177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Ouvrir DBeaver → clic sur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 Nouvelle connexion 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2540000"/>
            <a:ext cx="508000" cy="50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Sélectionner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 PostgreSQL »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dans la liste des drivers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6000" y="3302000"/>
            <a:ext cx="508000" cy="50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16000" y="330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330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Renseigner l'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hôte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le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port (5432)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la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de données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6000" y="4064000"/>
            <a:ext cx="508000" cy="50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16000" y="406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406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Saisir le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nom d'utilisateur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le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 de passe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6000" y="4826000"/>
            <a:ext cx="508000" cy="50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16000" y="482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482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Tester la connexion → message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« Connecté »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16000" y="5588000"/>
            <a:ext cx="508000" cy="50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16000" y="558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8000" y="558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Explorer :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Schémas → Tables → Données</a:t>
            </a:r>
            <a:endParaRPr lang="en-US" sz="2000" dirty="0"/>
          </a:p>
        </p:txBody>
      </p:sp>
      <p:pic>
        <p:nvPicPr>
          <p:cNvPr id="22" name="Image 0" descr="https://kimi-img.moonshot.cn/pub/slides/okc/lik2yfe4zbpjm/mnt/agents/output/dbeaver_postgres/images/4_Application_Window_Overview_dbeaver.png"/>
          <p:cNvPicPr>
            <a:picLocks noChangeAspect="1"/>
          </p:cNvPicPr>
          <p:nvPr/>
        </p:nvPicPr>
        <p:blipFill>
          <a:blip r:embed="rId3"/>
          <a:srcRect l="6064" r="6064"/>
          <a:stretch/>
        </p:blipFill>
        <p:spPr>
          <a:xfrm>
            <a:off x="7994165" y="1524868"/>
            <a:ext cx="7646685" cy="482879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90000" y="6538669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 DBeaver – Vue d'ensemble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Découverte de l'interface DBeaver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kimi-img.moonshot.cn/pub/slides/okc/lik2yfe4zbpjm/mnt/agents/output/dbeaver_postgres/images/4_Application_Window_Overview_dbeaver.png"/>
          <p:cNvPicPr>
            <a:picLocks noChangeAspect="1"/>
          </p:cNvPicPr>
          <p:nvPr/>
        </p:nvPicPr>
        <p:blipFill>
          <a:blip r:embed="rId3"/>
          <a:srcRect l="201" r="201"/>
          <a:stretch/>
        </p:blipFill>
        <p:spPr>
          <a:xfrm>
            <a:off x="146403" y="1342573"/>
            <a:ext cx="11045926" cy="66735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" y="8010636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principale de l'application DBeaver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299926" y="3053360"/>
            <a:ext cx="4826000" cy="400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Panneau de navigation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(gauche) : arborescence des bases, schémas, tables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Éditeur SQL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(centre) : rédaction et exécution des requêtes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Résultats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(bas) : grille de données ou texte brut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Propriétés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(droite) : colonnes, index, contraintes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Barre d'outils</a:t>
            </a: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exécuter, formater, exporter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Rôle de DBeaver dans notre projet Data Warehouse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14224000" cy="2286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24000" y="2032000"/>
            <a:ext cx="3556000" cy="1524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524000" y="2032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Staging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brutes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0" y="2667000"/>
            <a:ext cx="1016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096000" y="2032000"/>
            <a:ext cx="3556000" cy="1524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096000" y="2032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Core (Silver)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nettoyées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52000" y="2667000"/>
            <a:ext cx="1016000" cy="0"/>
          </a:xfrm>
          <a:prstGeom prst="straightConnector1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668000" y="2032000"/>
            <a:ext cx="3556000" cy="1524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668000" y="2032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Mart (Gold)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Données analytiques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318000"/>
            <a:ext cx="1422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9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9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Staging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inspection des données brutes avant transformation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9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validation des données nettoyées et intégrées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9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Mart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exploration des tables de faits et dimensions pour BI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9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analytiques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agrégations, jointures, fonctions de fenêtre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9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Qualité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détection des doublons, valeurs nulles, incohérences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pratique – Connexion, requête et visualisation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16000" y="1651000"/>
            <a:ext cx="660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Connexion à la base PostgreSQL du projet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Ouverture de l'éditeur SQL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Saisie de la requête :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* FROM core_clients LIMIT 10;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Exécution avec </a:t>
            </a:r>
            <a:r>
              <a:rPr lang="en-US" sz="19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Ctrl+Entrée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Résultat en grille : colonnes, types, filtres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900" b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r>
              <a:rPr lang="en-US" sz="19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Export CSV ou visualisation du plan d'exécution</a:t>
            </a:r>
            <a:endParaRPr lang="en-US" sz="2000" dirty="0"/>
          </a:p>
        </p:txBody>
      </p:sp>
      <p:pic>
        <p:nvPicPr>
          <p:cNvPr id="5" name="Image 0" descr="https://kimi-img.moonshot.cn/pub/slides/okc/lik2yfe4zbpjm/mnt/agents/output/dbeaver_postgres/images/7_Dashboards_dbeaver_dbeaver_Wiki_GitHu.png"/>
          <p:cNvPicPr>
            <a:picLocks noChangeAspect="1"/>
          </p:cNvPicPr>
          <p:nvPr/>
        </p:nvPicPr>
        <p:blipFill>
          <a:blip r:embed="rId3"/>
          <a:srcRect t="166" b="166"/>
          <a:stretch/>
        </p:blipFill>
        <p:spPr>
          <a:xfrm>
            <a:off x="5978582" y="1487190"/>
            <a:ext cx="10093397" cy="63083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69280" y="8148403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Résultats de requête et visualisations dans DBeaver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Avantages de DBeaver dans un contexte Data Warehouse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16000" y="2533448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333500" y="285094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905000" y="2787448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Productivité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Exploration rapide sans mémoriser les commandes psql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42000" y="2533448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134100" y="2850948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731000" y="2787448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Clarté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Visualisation immédiate des schémas et relations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668000" y="2533448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985500" y="285094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1557000" y="2787448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Qualité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Détection visuelle des anomalies et incohérences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6000" y="4565448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282700" y="4882948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905000" y="4819448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Collaboration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Partage des connexions et scripts au sein de l'équipe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42000" y="4565448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210300" y="4882948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31000" y="4819448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Sécurité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Gestion centralisée des credentials et droits d'accès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668000" y="4565448"/>
            <a:ext cx="4572000" cy="177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0985500" y="488294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119539"/>
                </a:moveTo>
                <a:lnTo>
                  <a:pt x="322739" y="195739"/>
                </a:lnTo>
                <a:cubicBezTo>
                  <a:pt x="315436" y="203041"/>
                  <a:pt x="304562" y="205184"/>
                  <a:pt x="295037" y="201216"/>
                </a:cubicBezTo>
                <a:cubicBezTo>
                  <a:pt x="285512" y="197247"/>
                  <a:pt x="279400" y="188039"/>
                  <a:pt x="279400" y="177800"/>
                </a:cubicBezTo>
                <a:lnTo>
                  <a:pt x="279400" y="127000"/>
                </a:ln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279400" y="76200"/>
                </a:lnTo>
                <a:lnTo>
                  <a:pt x="279400" y="25400"/>
                </a:lnTo>
                <a:cubicBezTo>
                  <a:pt x="279400" y="15161"/>
                  <a:pt x="285591" y="5874"/>
                  <a:pt x="295116" y="1905"/>
                </a:cubicBezTo>
                <a:cubicBezTo>
                  <a:pt x="304641" y="-2064"/>
                  <a:pt x="315516" y="159"/>
                  <a:pt x="322818" y="7382"/>
                </a:cubicBezTo>
                <a:lnTo>
                  <a:pt x="399018" y="83582"/>
                </a:lnTo>
                <a:cubicBezTo>
                  <a:pt x="408940" y="93504"/>
                  <a:pt x="408940" y="109617"/>
                  <a:pt x="399018" y="119539"/>
                </a:cubicBezTo>
                <a:close/>
                <a:moveTo>
                  <a:pt x="83582" y="398939"/>
                </a:moveTo>
                <a:lnTo>
                  <a:pt x="7382" y="322739"/>
                </a:lnTo>
                <a:cubicBezTo>
                  <a:pt x="-2540" y="312817"/>
                  <a:pt x="-2540" y="296704"/>
                  <a:pt x="7382" y="286782"/>
                </a:cubicBezTo>
                <a:lnTo>
                  <a:pt x="83582" y="210582"/>
                </a:lnTo>
                <a:cubicBezTo>
                  <a:pt x="90884" y="203279"/>
                  <a:pt x="101759" y="201136"/>
                  <a:pt x="111284" y="205105"/>
                </a:cubicBezTo>
                <a:cubicBezTo>
                  <a:pt x="120809" y="209074"/>
                  <a:pt x="127000" y="218361"/>
                  <a:pt x="127000" y="228600"/>
                </a:cubicBezTo>
                <a:lnTo>
                  <a:pt x="12700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cubicBezTo>
                  <a:pt x="406400" y="318849"/>
                  <a:pt x="395049" y="330200"/>
                  <a:pt x="381000" y="330200"/>
                </a:cubicBezTo>
                <a:lnTo>
                  <a:pt x="127000" y="330200"/>
                </a:lnTo>
                <a:lnTo>
                  <a:pt x="127000" y="381000"/>
                </a:lnTo>
                <a:cubicBezTo>
                  <a:pt x="127000" y="391239"/>
                  <a:pt x="120809" y="400526"/>
                  <a:pt x="111284" y="404495"/>
                </a:cubicBezTo>
                <a:cubicBezTo>
                  <a:pt x="101759" y="408464"/>
                  <a:pt x="90884" y="406241"/>
                  <a:pt x="83582" y="39901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1557000" y="4819448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Flexibilité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Compatible avec tous les SGBD du pipeline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446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016000" y="1778000"/>
            <a:ext cx="889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DBeaver est un </a:t>
            </a:r>
            <a:r>
              <a:rPr lang="en-US" sz="22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allié indispensable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tout projet de Data Warehouse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Il </a:t>
            </a:r>
            <a:r>
              <a:rPr lang="en-US" sz="22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démocratise l'accès aux données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technique et métiers collaborent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 </a:t>
            </a:r>
            <a:r>
              <a:rPr lang="en-US" sz="22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visualisation accélère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 compréhension et la prise de décision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Recommandation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adopter DBeaver dès la phase d'exploration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2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Prochaine étape</a:t>
            </a:r>
            <a:r>
              <a:rPr lang="en-US" sz="22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pratique guidée sur votre base PostgreSQL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00143" y="6492161"/>
            <a:ext cx="3745523" cy="704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i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Explorez. Visualisez. Décidez.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12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C4C7FF-B835-21D1-D99B-743340030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811" y="4213785"/>
            <a:ext cx="4334189" cy="2437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556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48000" y="1524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kern="0" spc="1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318000" y="279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66000" y="3556000"/>
            <a:ext cx="1524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318000" y="4064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Presenté par :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Mostapha</a:t>
            </a:r>
            <a:r>
              <a:rPr lang="en-US" sz="20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&amp; </a:t>
            </a:r>
            <a:r>
              <a:rPr lang="en-US" sz="20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Jamaa</a:t>
            </a:r>
            <a:endParaRPr lang="en-US" sz="2000" dirty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DBeaver – PostgreSQL – Data Warehouse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35750" y="5842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842250" y="584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112250" y="584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6799" y="84534"/>
                </a:moveTo>
                <a:lnTo>
                  <a:pt x="151110" y="213122"/>
                </a:lnTo>
                <a:cubicBezTo>
                  <a:pt x="146546" y="218182"/>
                  <a:pt x="146745" y="226020"/>
                  <a:pt x="151606" y="230882"/>
                </a:cubicBezTo>
                <a:cubicBezTo>
                  <a:pt x="181868" y="261144"/>
                  <a:pt x="230981" y="261144"/>
                  <a:pt x="261243" y="230882"/>
                </a:cubicBezTo>
                <a:lnTo>
                  <a:pt x="292795" y="199330"/>
                </a:lnTo>
                <a:cubicBezTo>
                  <a:pt x="296962" y="195163"/>
                  <a:pt x="302220" y="192881"/>
                  <a:pt x="307578" y="192484"/>
                </a:cubicBezTo>
                <a:cubicBezTo>
                  <a:pt x="314325" y="191889"/>
                  <a:pt x="321270" y="194171"/>
                  <a:pt x="326430" y="199330"/>
                </a:cubicBezTo>
                <a:lnTo>
                  <a:pt x="501650" y="373063"/>
                </a:lnTo>
                <a:lnTo>
                  <a:pt x="571500" y="317500"/>
                </a:lnTo>
                <a:lnTo>
                  <a:pt x="571500" y="31750"/>
                </a:lnTo>
                <a:lnTo>
                  <a:pt x="460375" y="95250"/>
                </a:lnTo>
                <a:lnTo>
                  <a:pt x="436761" y="79474"/>
                </a:lnTo>
                <a:cubicBezTo>
                  <a:pt x="421084" y="69056"/>
                  <a:pt x="402729" y="63500"/>
                  <a:pt x="383877" y="63500"/>
                </a:cubicBezTo>
                <a:lnTo>
                  <a:pt x="314027" y="63500"/>
                </a:lnTo>
                <a:cubicBezTo>
                  <a:pt x="312936" y="63500"/>
                  <a:pt x="311745" y="63500"/>
                  <a:pt x="310654" y="63599"/>
                </a:cubicBezTo>
                <a:cubicBezTo>
                  <a:pt x="293886" y="64492"/>
                  <a:pt x="278110" y="72033"/>
                  <a:pt x="266799" y="84534"/>
                </a:cubicBezTo>
                <a:close/>
                <a:moveTo>
                  <a:pt x="115689" y="181273"/>
                </a:moveTo>
                <a:lnTo>
                  <a:pt x="221655" y="63500"/>
                </a:lnTo>
                <a:lnTo>
                  <a:pt x="182364" y="63500"/>
                </a:lnTo>
                <a:cubicBezTo>
                  <a:pt x="157063" y="63500"/>
                  <a:pt x="132854" y="73521"/>
                  <a:pt x="114995" y="91380"/>
                </a:cubicBezTo>
                <a:lnTo>
                  <a:pt x="111125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55178" y="446782"/>
                </a:lnTo>
                <a:cubicBezTo>
                  <a:pt x="177998" y="465832"/>
                  <a:pt x="206772" y="476250"/>
                  <a:pt x="236438" y="476250"/>
                </a:cubicBezTo>
                <a:lnTo>
                  <a:pt x="252016" y="476250"/>
                </a:lnTo>
                <a:lnTo>
                  <a:pt x="245070" y="469305"/>
                </a:lnTo>
                <a:cubicBezTo>
                  <a:pt x="235744" y="459978"/>
                  <a:pt x="235744" y="444897"/>
                  <a:pt x="245070" y="435670"/>
                </a:cubicBezTo>
                <a:cubicBezTo>
                  <a:pt x="254397" y="426442"/>
                  <a:pt x="269478" y="426343"/>
                  <a:pt x="278705" y="435670"/>
                </a:cubicBezTo>
                <a:lnTo>
                  <a:pt x="319385" y="476349"/>
                </a:lnTo>
                <a:lnTo>
                  <a:pt x="328315" y="476349"/>
                </a:lnTo>
                <a:cubicBezTo>
                  <a:pt x="347266" y="476349"/>
                  <a:pt x="365820" y="472083"/>
                  <a:pt x="382687" y="464145"/>
                </a:cubicBezTo>
                <a:lnTo>
                  <a:pt x="356195" y="437555"/>
                </a:lnTo>
                <a:cubicBezTo>
                  <a:pt x="346869" y="428228"/>
                  <a:pt x="346869" y="413147"/>
                  <a:pt x="356195" y="403920"/>
                </a:cubicBezTo>
                <a:cubicBezTo>
                  <a:pt x="365522" y="394692"/>
                  <a:pt x="380603" y="394593"/>
                  <a:pt x="389830" y="403920"/>
                </a:cubicBezTo>
                <a:lnTo>
                  <a:pt x="421580" y="435670"/>
                </a:lnTo>
                <a:lnTo>
                  <a:pt x="438944" y="418306"/>
                </a:lnTo>
                <a:cubicBezTo>
                  <a:pt x="447774" y="409476"/>
                  <a:pt x="450354" y="396677"/>
                  <a:pt x="446484" y="385465"/>
                </a:cubicBezTo>
                <a:lnTo>
                  <a:pt x="309662" y="249734"/>
                </a:lnTo>
                <a:lnTo>
                  <a:pt x="294878" y="264517"/>
                </a:lnTo>
                <a:cubicBezTo>
                  <a:pt x="245963" y="313432"/>
                  <a:pt x="166787" y="313432"/>
                  <a:pt x="117872" y="264517"/>
                </a:cubicBezTo>
                <a:cubicBezTo>
                  <a:pt x="95052" y="241697"/>
                  <a:pt x="94159" y="205085"/>
                  <a:pt x="115689" y="181173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3970000" y="863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730</Words>
  <Application>Microsoft Office PowerPoint</Application>
  <PresentationFormat>Custom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Quattrocento Sans</vt:lpstr>
      <vt:lpstr>Arial</vt:lpstr>
      <vt:lpstr>QuattrocentoSans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DBeaver – Explorer et gérer la base de données PostgreSQL</dc:title>
  <dc:subject>DBeaver – Explorer et gérer la base de données PostgreSQL</dc:subject>
  <dc:creator>Kimi</dc:creator>
  <cp:lastModifiedBy>Mostapha m'bairik</cp:lastModifiedBy>
  <cp:revision>7</cp:revision>
  <dcterms:created xsi:type="dcterms:W3CDTF">2026-05-18T13:01:49Z</dcterms:created>
  <dcterms:modified xsi:type="dcterms:W3CDTF">2026-05-18T17:42:16Z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{"Label":"DBeaver – Explorer et gérer la base de données PostgreSQL","ContentProducer":"001191110108MACG2KBH8F10000","ProduceID":"19e3aed2-c552-8fe6-8000-00001d3da45c","ReservedCode1":"","ContentPropagator":"001191110108MACG2KBH8F20000","PropagateID":"19e3aed2-c552-8fe6-8000-00001d3da45c","ReservedCode2":""}</vt:lpwstr>
  </property>
</Properties>
</file>